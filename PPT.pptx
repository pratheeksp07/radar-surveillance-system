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2" r:id="rId2"/>
    <p:sldId id="317" r:id="rId3"/>
    <p:sldId id="319" r:id="rId4"/>
    <p:sldId id="333" r:id="rId5"/>
    <p:sldId id="340" r:id="rId6"/>
    <p:sldId id="341" r:id="rId7"/>
    <p:sldId id="320" r:id="rId8"/>
    <p:sldId id="322" r:id="rId9"/>
    <p:sldId id="332" r:id="rId10"/>
    <p:sldId id="323" r:id="rId11"/>
    <p:sldId id="343" r:id="rId12"/>
    <p:sldId id="330" r:id="rId13"/>
    <p:sldId id="338" r:id="rId14"/>
    <p:sldId id="334" r:id="rId15"/>
    <p:sldId id="335" r:id="rId16"/>
    <p:sldId id="336" r:id="rId17"/>
    <p:sldId id="337" r:id="rId18"/>
    <p:sldId id="339" r:id="rId19"/>
    <p:sldId id="331" r:id="rId20"/>
    <p:sldId id="329" r:id="rId21"/>
    <p:sldId id="326" r:id="rId22"/>
    <p:sldId id="342" r:id="rId23"/>
    <p:sldId id="327" r:id="rId24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Default Section" id="{94EAF8C5-F830-4D75-B019-CF75F4EDB9EF}">
          <p14:sldIdLst>
            <p14:sldId id="262"/>
            <p14:sldId id="317"/>
            <p14:sldId id="319"/>
            <p14:sldId id="333"/>
            <p14:sldId id="320"/>
            <p14:sldId id="322"/>
            <p14:sldId id="332"/>
            <p14:sldId id="323"/>
            <p14:sldId id="330"/>
            <p14:sldId id="331"/>
            <p14:sldId id="329"/>
            <p14:sldId id="326"/>
            <p14:sldId id="327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CC"/>
    <a:srgbClr val="FF6600"/>
    <a:srgbClr val="3366FF"/>
    <a:srgbClr val="FF0000"/>
    <a:srgbClr val="FF0066"/>
    <a:srgbClr val="CC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487" autoAdjust="0"/>
    <p:restoredTop sz="96774" autoAdjust="0"/>
  </p:normalViewPr>
  <p:slideViewPr>
    <p:cSldViewPr snapToGrid="0">
      <p:cViewPr varScale="1">
        <p:scale>
          <a:sx n="73" d="100"/>
          <a:sy n="73" d="100"/>
        </p:scale>
        <p:origin x="-1224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2814" y="54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9C881F66-B82A-458E-B278-AC23A68654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11AC646-EC5B-465A-BE58-E13393C5D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23264-85AA-4999-BACC-D921AC18131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7D688D2-CFB1-437F-BE35-1F57DA6711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E6EBD1A-1034-41EA-9B1E-16DB2A240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94D57-CC60-4377-A7E4-34277E0EDA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9041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5673245-1AFE-4784-902C-499F40AE3E08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73D163D-5C38-47FC-8F1D-0B7D3688B4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8849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CDB7-C7B9-4942-8E6F-2491029CEC6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B6A6F-9561-4A5B-AE12-98A3A436C8B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9320"/>
            <a:ext cx="10515600" cy="594519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7919"/>
            <a:ext cx="10515600" cy="4129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C9A1D-E715-4FF0-BABF-4724B2795EE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AB0878D-1355-48E0-9F0B-049A294FC821}"/>
              </a:ext>
            </a:extLst>
          </p:cNvPr>
          <p:cNvSpPr txBox="1"/>
          <p:nvPr userDrawn="1"/>
        </p:nvSpPr>
        <p:spPr>
          <a:xfrm>
            <a:off x="0" y="0"/>
            <a:ext cx="12192000" cy="8925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200" dirty="0">
                <a:latin typeface="+mn-lt"/>
              </a:rPr>
              <a:t>                </a:t>
            </a:r>
            <a:r>
              <a:rPr lang="en-IN" sz="1400" b="1" dirty="0">
                <a:solidFill>
                  <a:schemeClr val="accent2"/>
                </a:solidFill>
                <a:latin typeface="+mn-lt"/>
              </a:rPr>
              <a:t>National</a:t>
            </a:r>
            <a:r>
              <a:rPr lang="en-IN" sz="1400" b="1" baseline="0" dirty="0">
                <a:solidFill>
                  <a:schemeClr val="accent2"/>
                </a:solidFill>
                <a:latin typeface="+mn-lt"/>
              </a:rPr>
              <a:t> Education Society®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bg1"/>
                </a:solidFill>
                <a:latin typeface="+mn-lt"/>
              </a:rPr>
              <a:t>J N </a:t>
            </a:r>
            <a:r>
              <a:rPr lang="en-IN" sz="2000" b="1" dirty="0" err="1">
                <a:solidFill>
                  <a:schemeClr val="bg1"/>
                </a:solidFill>
                <a:latin typeface="+mn-lt"/>
              </a:rPr>
              <a:t>N</a:t>
            </a:r>
            <a:r>
              <a:rPr lang="en-IN" sz="2000" b="1" dirty="0">
                <a:solidFill>
                  <a:schemeClr val="bg1"/>
                </a:solidFill>
                <a:latin typeface="+mn-lt"/>
              </a:rPr>
              <a:t> College of Engineering, Shivamogga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600" b="1" dirty="0">
                <a:solidFill>
                  <a:srgbClr val="FFC000"/>
                </a:solidFill>
                <a:latin typeface="+mn-lt"/>
              </a:rPr>
              <a:t>Department of Electronics</a:t>
            </a:r>
            <a:r>
              <a:rPr lang="en-IN" sz="1600" b="1" baseline="0" dirty="0">
                <a:solidFill>
                  <a:srgbClr val="FFC000"/>
                </a:solidFill>
                <a:latin typeface="+mn-lt"/>
              </a:rPr>
              <a:t> &amp; Communication Engineering</a:t>
            </a:r>
            <a:endParaRPr lang="en-IN" sz="1600" b="1" dirty="0">
              <a:solidFill>
                <a:srgbClr val="FFC000"/>
              </a:solidFill>
              <a:latin typeface="+mn-lt"/>
            </a:endParaRPr>
          </a:p>
        </p:txBody>
      </p:sp>
      <p:pic>
        <p:nvPicPr>
          <p:cNvPr id="8" name="Picture 7" descr="E:\MPCIT 2018\NES Logo.jpg">
            <a:extLst>
              <a:ext uri="{FF2B5EF4-FFF2-40B4-BE49-F238E27FC236}">
                <a16:creationId xmlns="" xmlns:a16="http://schemas.microsoft.com/office/drawing/2014/main" id="{5D820988-954E-47F6-B246-5C97DF57E1CF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53799" y="-12147"/>
            <a:ext cx="838201" cy="91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C3C2FC2-083D-4112-8B7A-81AD56FA9F6C}"/>
              </a:ext>
            </a:extLst>
          </p:cNvPr>
          <p:cNvPicPr/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1"/>
            <a:ext cx="838201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F626E-F676-42A9-8147-22F947609B1A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DB536-FAA4-4926-ABCB-5E7CC269B6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F67E9-F8F5-4CE0-82D0-A92C16B660F6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575D1-AB1E-42DE-BB10-C5BC04895D8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2DCE6-E8AA-4F7B-87D9-5D597DC39642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83BE7-C55D-4A4E-A6A0-043F94059D0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97517-09AA-4567-A2E1-B1890EF95AE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4BEB8-290C-4FA4-AE69-E6C3853FAEA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13030-121A-4BC2-8785-768C6574CBA7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80943-4E2D-423B-9B17-EDA302C7F0F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E9AB1-297E-4899-9201-9967D699F13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E8B7A-A1F6-43A6-BB9A-27425DB04B2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9CD5E-CBE4-4A03-A3BA-DBD58BCA2F1B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C42C3-3321-4411-BD31-6AA50CB4215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D5E12-AF6F-4FA3-996B-02FC8DEA8DE4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94BFF-E6F2-42DA-8F77-E91E479BC65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A640B-1DAF-4CAB-8843-3710E008EA2A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5DBBF-0D74-425F-B081-0E4407209FE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090BA4-FD51-4875-86B0-E64579B30455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49365E3-5853-4AF6-9D20-BF7E216DA05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62B90775-13DB-4046-A93A-50FDB6E75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66916"/>
          </a:xfrm>
        </p:spPr>
        <p:txBody>
          <a:bodyPr/>
          <a:lstStyle/>
          <a:p>
            <a:r>
              <a:rPr lang="en-US" sz="4400" b="1" dirty="0">
                <a:solidFill>
                  <a:srgbClr val="0000CC"/>
                </a:solidFill>
              </a:rPr>
              <a:t>Visvesvaraya Technological University Belagavi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="" xmlns:a16="http://schemas.microsoft.com/office/drawing/2014/main" id="{8C87054C-FEDE-4143-ABCC-900AB3701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47803"/>
            <a:ext cx="12192000" cy="4810197"/>
          </a:xfrm>
        </p:spPr>
        <p:txBody>
          <a:bodyPr/>
          <a:lstStyle/>
          <a:p>
            <a:r>
              <a:rPr lang="en-US" sz="2000" dirty="0"/>
              <a:t>Mini Project Synopsis presentation on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“RADAR  SURVEILLANCE  SYSTEM”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2000" dirty="0"/>
              <a:t>by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400" dirty="0"/>
          </a:p>
          <a:p>
            <a:r>
              <a:rPr lang="en-US" sz="2000" dirty="0"/>
              <a:t>Under the guidance of</a:t>
            </a:r>
          </a:p>
          <a:p>
            <a:r>
              <a:rPr lang="en-IN" sz="2000" b="1" dirty="0" smtClean="0"/>
              <a:t>Sunil M D</a:t>
            </a:r>
            <a:endParaRPr lang="en-US" sz="20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Assistant </a:t>
            </a:r>
            <a:r>
              <a:rPr lang="en-US" sz="2000" dirty="0" smtClean="0"/>
              <a:t>Professor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Department of Electronics and Communication Engineering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JNN College of Engineering, </a:t>
            </a:r>
            <a:r>
              <a:rPr lang="en-US" sz="2000" dirty="0" err="1"/>
              <a:t>Shimoga</a:t>
            </a:r>
            <a:r>
              <a:rPr lang="en-US" sz="2000" dirty="0"/>
              <a:t>- 577204</a:t>
            </a:r>
          </a:p>
          <a:p>
            <a:r>
              <a:rPr lang="en-US" sz="2000" dirty="0"/>
              <a:t>2024-2025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FB49E64-22AC-4B52-94E6-FBE2E80B21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308" y="685834"/>
            <a:ext cx="981385" cy="13800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A290D39-BF9A-4242-B075-882547ADE47D}"/>
              </a:ext>
            </a:extLst>
          </p:cNvPr>
          <p:cNvSpPr txBox="1"/>
          <p:nvPr/>
        </p:nvSpPr>
        <p:spPr>
          <a:xfrm>
            <a:off x="3297492" y="3237276"/>
            <a:ext cx="60984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2000" b="1" dirty="0" err="1" smtClean="0">
                <a:latin typeface="Calibri (Body)"/>
              </a:rPr>
              <a:t>Prateek</a:t>
            </a:r>
            <a:r>
              <a:rPr lang="en-US" sz="2000" b="1" dirty="0" smtClean="0">
                <a:latin typeface="Calibri (Body)"/>
              </a:rPr>
              <a:t> S.P           </a:t>
            </a:r>
            <a:r>
              <a:rPr lang="en-US" sz="2000" b="1" dirty="0" smtClean="0">
                <a:latin typeface="Calibri (Body)"/>
              </a:rPr>
              <a:t> </a:t>
            </a:r>
            <a:r>
              <a:rPr lang="en-US" sz="2000" dirty="0" smtClean="0">
                <a:latin typeface="Calibri (Body)"/>
              </a:rPr>
              <a:t>:</a:t>
            </a:r>
            <a:r>
              <a:rPr lang="en-US" sz="2000" b="1" dirty="0" smtClean="0">
                <a:latin typeface="Calibri (Body)"/>
              </a:rPr>
              <a:t> </a:t>
            </a:r>
            <a:r>
              <a:rPr lang="en-US" sz="2000" b="1" dirty="0" smtClean="0">
                <a:latin typeface="Calibri (Body)"/>
              </a:rPr>
              <a:t>4JN22EC071</a:t>
            </a:r>
            <a:endParaRPr lang="en-US" sz="2000" b="1" dirty="0">
              <a:latin typeface="Calibri (Body)"/>
            </a:endParaRPr>
          </a:p>
          <a:p>
            <a:pPr lvl="2"/>
            <a:r>
              <a:rPr lang="en-US" sz="2000" b="1" dirty="0" err="1" smtClean="0">
                <a:latin typeface="Calibri (Body)"/>
              </a:rPr>
              <a:t>Rakesh</a:t>
            </a:r>
            <a:r>
              <a:rPr lang="en-US" sz="2000" b="1" dirty="0" smtClean="0">
                <a:latin typeface="Calibri (Body)"/>
              </a:rPr>
              <a:t> R.H           </a:t>
            </a:r>
            <a:r>
              <a:rPr lang="en-US" sz="2000" b="1" dirty="0" smtClean="0">
                <a:latin typeface="Calibri (Body)"/>
              </a:rPr>
              <a:t> </a:t>
            </a:r>
            <a:r>
              <a:rPr lang="en-US" sz="2000" dirty="0" smtClean="0">
                <a:latin typeface="Calibri (Body)"/>
              </a:rPr>
              <a:t>:</a:t>
            </a:r>
            <a:r>
              <a:rPr lang="en-US" sz="2000" b="1" dirty="0" smtClean="0">
                <a:latin typeface="Calibri (Body)"/>
              </a:rPr>
              <a:t> </a:t>
            </a:r>
            <a:r>
              <a:rPr lang="en-US" sz="2000" b="1" dirty="0" smtClean="0">
                <a:latin typeface="Calibri (Body)"/>
              </a:rPr>
              <a:t>4JN22EC076</a:t>
            </a:r>
          </a:p>
          <a:p>
            <a:pPr lvl="2"/>
            <a:r>
              <a:rPr lang="en-US" sz="2000" b="1" dirty="0" err="1" smtClean="0">
                <a:latin typeface="Calibri (Body)"/>
              </a:rPr>
              <a:t>Varsha</a:t>
            </a:r>
            <a:r>
              <a:rPr lang="en-US" sz="2000" b="1" dirty="0" smtClean="0">
                <a:latin typeface="Calibri (Body)"/>
              </a:rPr>
              <a:t> .V              </a:t>
            </a:r>
            <a:r>
              <a:rPr lang="en-US" sz="2000" b="1" dirty="0" smtClean="0">
                <a:latin typeface="Calibri (Body)"/>
              </a:rPr>
              <a:t>  </a:t>
            </a:r>
            <a:r>
              <a:rPr lang="en-US" sz="2000" dirty="0" smtClean="0">
                <a:latin typeface="Calibri (Body)"/>
              </a:rPr>
              <a:t>:</a:t>
            </a:r>
            <a:r>
              <a:rPr lang="en-US" sz="2000" b="1" dirty="0" smtClean="0">
                <a:latin typeface="Calibri (Body)"/>
              </a:rPr>
              <a:t> 4JN22EC118</a:t>
            </a:r>
          </a:p>
          <a:p>
            <a:pPr lvl="2"/>
            <a:r>
              <a:rPr lang="en-US" sz="2000" b="1" dirty="0" err="1" smtClean="0">
                <a:latin typeface="Calibri (Body)"/>
              </a:rPr>
              <a:t>Varun</a:t>
            </a:r>
            <a:r>
              <a:rPr lang="en-US" sz="2000" b="1" dirty="0" smtClean="0">
                <a:latin typeface="Calibri (Body)"/>
              </a:rPr>
              <a:t> </a:t>
            </a:r>
            <a:r>
              <a:rPr lang="en-US" sz="2000" b="1" dirty="0" err="1" smtClean="0">
                <a:latin typeface="Calibri (Body)"/>
              </a:rPr>
              <a:t>kumar</a:t>
            </a:r>
            <a:r>
              <a:rPr lang="en-US" sz="2000" b="1" dirty="0" smtClean="0">
                <a:latin typeface="Calibri (Body)"/>
              </a:rPr>
              <a:t> P.B  </a:t>
            </a:r>
            <a:r>
              <a:rPr lang="en-US" sz="2000" b="1" dirty="0" smtClean="0">
                <a:latin typeface="Calibri (Body)"/>
              </a:rPr>
              <a:t>  </a:t>
            </a:r>
            <a:r>
              <a:rPr lang="en-US" sz="2000" dirty="0" smtClean="0">
                <a:latin typeface="Calibri (Body)"/>
              </a:rPr>
              <a:t>:</a:t>
            </a:r>
            <a:r>
              <a:rPr lang="en-US" sz="2000" b="1" dirty="0" smtClean="0">
                <a:latin typeface="Calibri (Body)"/>
              </a:rPr>
              <a:t> 4JN22EC119</a:t>
            </a:r>
            <a:endParaRPr lang="en-US" sz="2000" b="1" dirty="0">
              <a:latin typeface="Calibri (Body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74CEC77-9CCD-411E-8372-C6A7C7BE7323}"/>
              </a:ext>
            </a:extLst>
          </p:cNvPr>
          <p:cNvSpPr txBox="1"/>
          <p:nvPr/>
        </p:nvSpPr>
        <p:spPr>
          <a:xfrm>
            <a:off x="0" y="6488668"/>
            <a:ext cx="1178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6600"/>
                </a:solidFill>
                <a:latin typeface="Calibri (Body)"/>
              </a:rPr>
              <a:t>Batch </a:t>
            </a:r>
            <a:r>
              <a:rPr lang="en-US" dirty="0" smtClean="0">
                <a:solidFill>
                  <a:srgbClr val="FF6600"/>
                </a:solidFill>
                <a:latin typeface="Calibri (Body)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048A6B-0029-4EBA-B477-6D7C80EA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350"/>
            <a:ext cx="10515600" cy="594519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Presentation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244F77-8419-4C1D-B72F-B6A3B1941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869"/>
            <a:ext cx="10515600" cy="4627300"/>
          </a:xfrm>
        </p:spPr>
        <p:txBody>
          <a:bodyPr/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Literature Survey</a:t>
            </a:r>
          </a:p>
          <a:p>
            <a:r>
              <a:rPr lang="en-US" sz="2400" dirty="0"/>
              <a:t>Aim of the Project </a:t>
            </a:r>
          </a:p>
          <a:p>
            <a:r>
              <a:rPr lang="en-US" sz="2400" dirty="0"/>
              <a:t>Objectives &amp; Methodology</a:t>
            </a:r>
          </a:p>
          <a:p>
            <a:r>
              <a:rPr lang="en-US" sz="2400" dirty="0"/>
              <a:t>Block diagram</a:t>
            </a:r>
          </a:p>
          <a:p>
            <a:r>
              <a:rPr lang="en-US" sz="2400" dirty="0"/>
              <a:t>Implementation Details</a:t>
            </a:r>
          </a:p>
          <a:p>
            <a:r>
              <a:rPr lang="en-US" sz="2400" dirty="0"/>
              <a:t>Hardware/Software requirements</a:t>
            </a:r>
          </a:p>
          <a:p>
            <a:r>
              <a:rPr lang="en-US" sz="2400" dirty="0"/>
              <a:t>Results &amp; Discussions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/>
              <a:t>Action Plan</a:t>
            </a:r>
          </a:p>
          <a:p>
            <a:r>
              <a:rPr lang="en-US" sz="2400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2DC6897-2A35-4669-905D-E5C7155F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F8B0E38-9A9A-43EC-9BC8-370BB396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0DF6B3-C101-4A16-930F-DEE646B44177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7823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D5A9B0-092B-4168-9AF9-22140BD8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205B86-1C18-4DA8-864E-E39C113A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B64DD1-891F-4385-A8A0-40ABED296F50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F98299-3F96-4F9D-A367-95C7D20C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48769" y="2005267"/>
            <a:ext cx="1119729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RADAR stands for Radio Detection and Ranging</a:t>
            </a:r>
          </a:p>
          <a:p>
            <a:pPr>
              <a:buFont typeface="Arial" pitchFamily="34" charset="0"/>
              <a:buChar char="•"/>
            </a:pPr>
            <a:endParaRPr lang="en-IN" sz="2800" dirty="0" smtClean="0"/>
          </a:p>
          <a:p>
            <a:pPr>
              <a:buFont typeface="Arial" pitchFamily="34" charset="0"/>
              <a:buChar char="•"/>
            </a:pPr>
            <a:r>
              <a:rPr lang="en-IN" sz="2800" dirty="0" smtClean="0"/>
              <a:t>RADAR is an object detection system which uses radio waves</a:t>
            </a:r>
          </a:p>
          <a:p>
            <a:r>
              <a:rPr lang="en-IN" sz="2800" dirty="0" smtClean="0"/>
              <a:t>  to determine object location and distance</a:t>
            </a:r>
          </a:p>
          <a:p>
            <a:pPr>
              <a:buFont typeface="Arial" pitchFamily="34" charset="0"/>
              <a:buChar char="•"/>
            </a:pPr>
            <a:endParaRPr lang="en-IN" sz="2800" dirty="0" smtClean="0"/>
          </a:p>
          <a:p>
            <a:pPr>
              <a:buFont typeface="Arial" pitchFamily="34" charset="0"/>
              <a:buChar char="•"/>
            </a:pPr>
            <a:r>
              <a:rPr lang="en-IN" sz="2800" dirty="0" smtClean="0"/>
              <a:t>It is basically an electromagnetic system used to detect the</a:t>
            </a:r>
          </a:p>
          <a:p>
            <a:r>
              <a:rPr lang="en-IN" sz="2800" dirty="0" smtClean="0"/>
              <a:t>  location and distance of an object from point where RADAR is used.</a:t>
            </a:r>
          </a:p>
          <a:p>
            <a:pPr>
              <a:buFont typeface="Arial" pitchFamily="34" charset="0"/>
              <a:buChar char="•"/>
            </a:pPr>
            <a:endParaRPr lang="en-IN" sz="2800" dirty="0" smtClean="0"/>
          </a:p>
          <a:p>
            <a:pPr>
              <a:buFont typeface="Arial" pitchFamily="34" charset="0"/>
              <a:buChar char="•"/>
            </a:pPr>
            <a:r>
              <a:rPr lang="en-IN" sz="2800" dirty="0" smtClean="0"/>
              <a:t>It works by radiating waves into space and monitors the echo </a:t>
            </a:r>
          </a:p>
          <a:p>
            <a:r>
              <a:rPr lang="en-IN" sz="2800" dirty="0" smtClean="0"/>
              <a:t>  from the object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95489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F2E1FB-B056-352C-74C5-B457D429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610A0E-A76A-F004-667C-493703BB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074" y="1734409"/>
            <a:ext cx="10515600" cy="4862333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</a:rPr>
              <a:t>[</a:t>
            </a:r>
            <a:r>
              <a:rPr lang="en-US" b="0" i="0" u="none" strike="noStrike" baseline="0" dirty="0" smtClean="0">
                <a:latin typeface="Times New Roman" panose="02020603050405020304" pitchFamily="18" charset="0"/>
              </a:rPr>
              <a:t>1]</a:t>
            </a:r>
            <a:r>
              <a:rPr lang="en-US" b="0" i="0" u="none" strike="noStrike" dirty="0" smtClean="0"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 smtClean="0">
                <a:latin typeface="Times New Roman" panose="02020603050405020304" pitchFamily="18" charset="0"/>
              </a:rPr>
              <a:t>Arun</a:t>
            </a:r>
            <a:r>
              <a:rPr lang="en-US" b="0" i="0" u="none" strike="noStrike" dirty="0" smtClean="0">
                <a:latin typeface="Times New Roman" panose="02020603050405020304" pitchFamily="18" charset="0"/>
              </a:rPr>
              <a:t> Francis, </a:t>
            </a:r>
            <a:r>
              <a:rPr lang="en-US" b="0" i="0" u="none" strike="noStrike" dirty="0" err="1" smtClean="0">
                <a:latin typeface="Times New Roman" panose="02020603050405020304" pitchFamily="18" charset="0"/>
              </a:rPr>
              <a:t>G,Arulselvan</a:t>
            </a:r>
            <a:r>
              <a:rPr lang="en-US" b="0" i="0" u="none" strike="noStrike" dirty="0" smtClean="0">
                <a:latin typeface="Times New Roman" panose="02020603050405020304" pitchFamily="18" charset="0"/>
              </a:rPr>
              <a:t> ,</a:t>
            </a:r>
            <a:r>
              <a:rPr lang="en-US" b="0" i="0" u="none" strike="noStrike" dirty="0" err="1" smtClean="0">
                <a:latin typeface="Times New Roman" panose="02020603050405020304" pitchFamily="18" charset="0"/>
              </a:rPr>
              <a:t>Elangkumaran,P</a:t>
            </a:r>
            <a:r>
              <a:rPr lang="en-US" b="0" i="0" u="none" strike="noStrike" dirty="0" smtClean="0">
                <a:latin typeface="Times New Roman" panose="02020603050405020304" pitchFamily="18" charset="0"/>
              </a:rPr>
              <a:t> </a:t>
            </a:r>
            <a:r>
              <a:rPr lang="en-US" b="0" i="0" u="none" strike="noStrike" dirty="0" err="1" smtClean="0">
                <a:latin typeface="Times New Roman" panose="02020603050405020304" pitchFamily="18" charset="0"/>
              </a:rPr>
              <a:t>keerthivarman</a:t>
            </a:r>
            <a:r>
              <a:rPr lang="en-US" b="0" i="0" u="none" strike="noStrike" dirty="0" smtClean="0">
                <a:latin typeface="Times New Roman" panose="02020603050405020304" pitchFamily="18" charset="0"/>
              </a:rPr>
              <a:t> S,</a:t>
            </a:r>
          </a:p>
          <a:p>
            <a:pPr marL="0" indent="0" algn="l">
              <a:buNone/>
            </a:pPr>
            <a:r>
              <a:rPr lang="en-IN" dirty="0" smtClean="0">
                <a:latin typeface="Times New Roman" panose="02020603050405020304" pitchFamily="18" charset="0"/>
              </a:rPr>
              <a:t>      </a:t>
            </a:r>
            <a:r>
              <a:rPr lang="en-IN" dirty="0" err="1" smtClean="0">
                <a:latin typeface="Times New Roman" panose="02020603050405020304" pitchFamily="18" charset="0"/>
              </a:rPr>
              <a:t>vijaya</a:t>
            </a:r>
            <a:r>
              <a:rPr lang="en-IN" dirty="0" smtClean="0">
                <a:latin typeface="Times New Roman" panose="02020603050405020304" pitchFamily="18" charset="0"/>
              </a:rPr>
              <a:t> Kumar J, “Object detection using Ultrasonic sensor”, April</a:t>
            </a:r>
          </a:p>
          <a:p>
            <a:pPr marL="0" indent="0" algn="l">
              <a:buNone/>
            </a:pPr>
            <a:r>
              <a:rPr lang="en-IN" b="1" dirty="0" smtClean="0">
                <a:latin typeface="Times New Roman" panose="02020603050405020304" pitchFamily="18" charset="0"/>
              </a:rPr>
              <a:t>      </a:t>
            </a:r>
            <a:r>
              <a:rPr lang="en-IN" dirty="0" smtClean="0">
                <a:latin typeface="Times New Roman" panose="02020603050405020304" pitchFamily="18" charset="0"/>
              </a:rPr>
              <a:t>(2019) International Journal innovative Technology and Exploring                </a:t>
            </a:r>
          </a:p>
          <a:p>
            <a:pPr marL="0" indent="0" algn="l">
              <a:buNone/>
            </a:pPr>
            <a:r>
              <a:rPr lang="en-IN" dirty="0" smtClean="0">
                <a:latin typeface="Times New Roman" panose="02020603050405020304" pitchFamily="18" charset="0"/>
              </a:rPr>
              <a:t>      Engineering, IJITEE  2019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</a:rPr>
              <a:t>Integration of ultrasonic sensor and </a:t>
            </a:r>
            <a:r>
              <a:rPr lang="en-IN" dirty="0" err="1" smtClean="0">
                <a:latin typeface="Times New Roman" panose="02020603050405020304" pitchFamily="18" charset="0"/>
              </a:rPr>
              <a:t>arduino</a:t>
            </a:r>
            <a:r>
              <a:rPr lang="en-IN" dirty="0" smtClean="0">
                <a:latin typeface="Times New Roman" panose="02020603050405020304" pitchFamily="18" charset="0"/>
              </a:rPr>
              <a:t> ,Object detection algorithm.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Advantage of this method is that the system detects whether the object is present or not.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Disadvantages of </a:t>
            </a:r>
            <a:r>
              <a:rPr lang="en-US" dirty="0" smtClean="0">
                <a:latin typeface="Times New Roman" panose="02020603050405020304" pitchFamily="18" charset="0"/>
              </a:rPr>
              <a:t>this method however it detect the object but it cannot calculate the distance of the object.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8BE1D8-DCBB-4A72-E252-D464CFC5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9114B8B-2CD8-2380-1562-172D96FB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2019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Literature Survey (</a:t>
            </a:r>
            <a:r>
              <a:rPr lang="en-IN" dirty="0" err="1" smtClean="0"/>
              <a:t>Contd</a:t>
            </a:r>
            <a:r>
              <a:rPr lang="en-IN" dirty="0" smtClean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4856"/>
            <a:ext cx="10515600" cy="4129044"/>
          </a:xfrm>
        </p:spPr>
        <p:txBody>
          <a:bodyPr/>
          <a:lstStyle/>
          <a:p>
            <a:pPr>
              <a:buNone/>
            </a:pPr>
            <a:r>
              <a:rPr lang="en-IN" dirty="0" smtClean="0"/>
              <a:t>[2].Mohammed </a:t>
            </a:r>
            <a:r>
              <a:rPr lang="en-IN" dirty="0" err="1" smtClean="0"/>
              <a:t>Faisal,Ganta</a:t>
            </a:r>
            <a:r>
              <a:rPr lang="en-IN" dirty="0" smtClean="0"/>
              <a:t> </a:t>
            </a:r>
            <a:r>
              <a:rPr lang="en-IN" dirty="0" err="1" smtClean="0"/>
              <a:t>Anurag</a:t>
            </a:r>
            <a:r>
              <a:rPr lang="en-IN" dirty="0" smtClean="0"/>
              <a:t> </a:t>
            </a:r>
            <a:r>
              <a:rPr lang="en-IN" dirty="0" err="1" smtClean="0"/>
              <a:t>reddy,Baluspati</a:t>
            </a:r>
            <a:r>
              <a:rPr lang="en-IN" dirty="0" smtClean="0"/>
              <a:t> Anil Kumar and</a:t>
            </a:r>
          </a:p>
          <a:p>
            <a:pPr>
              <a:buNone/>
            </a:pPr>
            <a:r>
              <a:rPr lang="en-IN" dirty="0" smtClean="0"/>
              <a:t>      </a:t>
            </a:r>
            <a:r>
              <a:rPr lang="en-IN" dirty="0" err="1" smtClean="0"/>
              <a:t>Dr.Ajitha</a:t>
            </a:r>
            <a:r>
              <a:rPr lang="en-IN" dirty="0" smtClean="0"/>
              <a:t>, “Distance </a:t>
            </a:r>
            <a:r>
              <a:rPr lang="en-IN" dirty="0" err="1" smtClean="0"/>
              <a:t>measurment</a:t>
            </a:r>
            <a:r>
              <a:rPr lang="en-IN" dirty="0" smtClean="0"/>
              <a:t> and object detection using</a:t>
            </a:r>
          </a:p>
          <a:p>
            <a:pPr>
              <a:buNone/>
            </a:pPr>
            <a:r>
              <a:rPr lang="en-IN" dirty="0" smtClean="0"/>
              <a:t>      Ultrasonic </a:t>
            </a:r>
            <a:r>
              <a:rPr lang="en-IN" dirty="0" err="1" smtClean="0"/>
              <a:t>sensors”,June</a:t>
            </a:r>
            <a:r>
              <a:rPr lang="en-IN" dirty="0" smtClean="0"/>
              <a:t> 2021 International Journal of modern </a:t>
            </a:r>
          </a:p>
          <a:p>
            <a:pPr>
              <a:buNone/>
            </a:pPr>
            <a:r>
              <a:rPr lang="en-IN" dirty="0" smtClean="0"/>
              <a:t>       trends  in science and </a:t>
            </a:r>
            <a:r>
              <a:rPr lang="en-IN" dirty="0" err="1" smtClean="0"/>
              <a:t>technology|IJMST</a:t>
            </a:r>
            <a:r>
              <a:rPr lang="en-IN" dirty="0" smtClean="0"/>
              <a:t>|</a:t>
            </a:r>
          </a:p>
          <a:p>
            <a:r>
              <a:rPr lang="en-IN" dirty="0" smtClean="0"/>
              <a:t>To calculate the distance of detected object.</a:t>
            </a:r>
          </a:p>
          <a:p>
            <a:r>
              <a:rPr lang="en-IN" dirty="0" smtClean="0"/>
              <a:t> Advantage of this method is to know how far the detected object is located</a:t>
            </a:r>
          </a:p>
          <a:p>
            <a:r>
              <a:rPr lang="en-IN" dirty="0" smtClean="0"/>
              <a:t>Disadvantage of this method it can’t identify whether object is in rest or moving.</a:t>
            </a:r>
          </a:p>
          <a:p>
            <a:pPr>
              <a:buNone/>
            </a:pPr>
            <a:r>
              <a:rPr lang="en-IN" dirty="0" smtClean="0"/>
              <a:t>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Literature Survey (</a:t>
            </a:r>
            <a:r>
              <a:rPr lang="en-IN" dirty="0" err="1" smtClean="0"/>
              <a:t>Contd</a:t>
            </a:r>
            <a:r>
              <a:rPr lang="en-IN" dirty="0" smtClean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[3].</a:t>
            </a:r>
            <a:r>
              <a:rPr lang="en-IN" dirty="0" err="1" smtClean="0"/>
              <a:t>Neetu</a:t>
            </a:r>
            <a:r>
              <a:rPr lang="en-IN" dirty="0" smtClean="0"/>
              <a:t> </a:t>
            </a:r>
            <a:r>
              <a:rPr lang="en-IN" dirty="0" err="1" smtClean="0"/>
              <a:t>Settia,Krishan</a:t>
            </a:r>
            <a:r>
              <a:rPr lang="en-IN" dirty="0" smtClean="0"/>
              <a:t> Mohan </a:t>
            </a:r>
            <a:r>
              <a:rPr lang="en-IN" dirty="0" err="1" smtClean="0"/>
              <a:t>Mandal</a:t>
            </a:r>
            <a:r>
              <a:rPr lang="en-IN" dirty="0" smtClean="0"/>
              <a:t>, “Exploring the potential of </a:t>
            </a:r>
            <a:r>
              <a:rPr lang="en-IN" dirty="0" err="1" smtClean="0"/>
              <a:t>arduino</a:t>
            </a:r>
            <a:r>
              <a:rPr lang="en-IN" dirty="0" smtClean="0"/>
              <a:t> and ultrasonic Sensor Integration in Radar </a:t>
            </a:r>
            <a:r>
              <a:rPr lang="en-IN" dirty="0" err="1" smtClean="0"/>
              <a:t>system”,International</a:t>
            </a:r>
            <a:r>
              <a:rPr lang="en-IN" dirty="0" smtClean="0"/>
              <a:t> Research Journal on Advanced Engineering</a:t>
            </a:r>
          </a:p>
          <a:p>
            <a:pPr>
              <a:buNone/>
            </a:pPr>
            <a:r>
              <a:rPr lang="en-IN" dirty="0" smtClean="0"/>
              <a:t>   May (2024)|IRJAEH|</a:t>
            </a:r>
          </a:p>
          <a:p>
            <a:r>
              <a:rPr lang="en-IN" dirty="0" err="1" smtClean="0"/>
              <a:t>Psecudo</a:t>
            </a:r>
            <a:r>
              <a:rPr lang="en-IN" dirty="0" smtClean="0"/>
              <a:t> Code for Positioning of servo motor and to calculate the distance function.</a:t>
            </a:r>
          </a:p>
          <a:p>
            <a:r>
              <a:rPr lang="en-IN" dirty="0" smtClean="0"/>
              <a:t> Advantages of this method to calculate angle ,distance of the detected object</a:t>
            </a:r>
          </a:p>
          <a:p>
            <a:r>
              <a:rPr lang="en-IN" dirty="0" smtClean="0"/>
              <a:t> Disadvantages of this method the it can detect </a:t>
            </a:r>
            <a:r>
              <a:rPr lang="en-IN" dirty="0" err="1" smtClean="0"/>
              <a:t>upto</a:t>
            </a:r>
            <a:r>
              <a:rPr lang="en-IN" dirty="0" smtClean="0"/>
              <a:t> a limited </a:t>
            </a:r>
            <a:r>
              <a:rPr lang="en-IN" dirty="0" err="1" smtClean="0"/>
              <a:t>range,limited</a:t>
            </a:r>
            <a:r>
              <a:rPr lang="en-IN" dirty="0" smtClean="0"/>
              <a:t> directivity and prone to noise and interference.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66F335-6663-4EB7-85DB-24DDCDFE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the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05E25E-7A5B-4D4B-ADE6-659A08BC4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aim of the project is to                                                                        </a:t>
            </a:r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         </a:t>
            </a:r>
            <a:r>
              <a:rPr lang="en-IN" dirty="0" smtClean="0">
                <a:solidFill>
                  <a:srgbClr val="0000CC"/>
                </a:solidFill>
              </a:rPr>
              <a:t>“Detect and track the moving objects within specified range and</a:t>
            </a:r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            provide information of speed, distance and direction”.</a:t>
            </a: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IN" dirty="0" smtClean="0"/>
              <a:t>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6D0C8E-2577-4370-827F-D7A6FF27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6E6D6-2628-4F9B-BF57-22B0C47C3C57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AFEFD52-B118-46A8-AA38-5BEBBA0D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817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B901AF-9B73-448F-994F-4A08F69A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Methodology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C7A43FAE-3254-7D51-C729-86A7141900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68620688"/>
              </p:ext>
            </p:extLst>
          </p:nvPr>
        </p:nvGraphicFramePr>
        <p:xfrm>
          <a:off x="838200" y="2047875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="" xmlns:a16="http://schemas.microsoft.com/office/drawing/2014/main" val="4227880265"/>
                    </a:ext>
                  </a:extLst>
                </a:gridCol>
                <a:gridCol w="5257800">
                  <a:extLst>
                    <a:ext uri="{9D8B030D-6E8A-4147-A177-3AD203B41FA5}">
                      <a16:colId xmlns="" xmlns:a16="http://schemas.microsoft.com/office/drawing/2014/main" val="784387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34338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</a:t>
                      </a:r>
                      <a:r>
                        <a:rPr lang="en-IN" baseline="0" dirty="0" smtClean="0"/>
                        <a:t> detect objects in various environmental conditions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Ultrasonic</a:t>
                      </a:r>
                      <a:r>
                        <a:rPr lang="en-IN" baseline="0" dirty="0" smtClean="0"/>
                        <a:t> sensors generates high frequency sound waves and evaluates the echo which is received back by sensor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590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</a:t>
                      </a:r>
                      <a:r>
                        <a:rPr lang="en-IN" baseline="0" dirty="0" smtClean="0"/>
                        <a:t> calculate the distance of the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Sensors</a:t>
                      </a:r>
                      <a:r>
                        <a:rPr lang="en-IN" baseline="0" dirty="0" smtClean="0"/>
                        <a:t> calculate the time interval between sending the signal and receiving the echo to determine the distance of the object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2273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</a:t>
                      </a:r>
                      <a:r>
                        <a:rPr lang="en-IN" baseline="0" dirty="0" smtClean="0"/>
                        <a:t> identify whether target is moving or stationary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Continuously</a:t>
                      </a:r>
                      <a:r>
                        <a:rPr lang="en-IN" baseline="0" dirty="0" smtClean="0"/>
                        <a:t> measure the distance at regular intervals and calculate the difference between consecutive  distance if distance is varied then it is moving if it is in </a:t>
                      </a:r>
                    </a:p>
                    <a:p>
                      <a:r>
                        <a:rPr lang="en-IN" baseline="0" dirty="0" smtClean="0"/>
                        <a:t>threshold value or 0 then it is in rest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4291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</a:t>
                      </a:r>
                      <a:r>
                        <a:rPr lang="en-IN" baseline="0" dirty="0" smtClean="0"/>
                        <a:t> find the direction and speed of moving target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Measure</a:t>
                      </a:r>
                      <a:r>
                        <a:rPr lang="en-IN" baseline="0" dirty="0" smtClean="0"/>
                        <a:t> the time of flight between consecutive distance to calculate speed using the formula and determine direction based on distance changes.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324482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77E6B6-3ADE-4C21-837F-3A23BA37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AFC27B-2B20-4E5E-A500-47D4253C1411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BAF71DD-65EF-43DD-BAC1-5C9FD134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1457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8BAE53-8F55-66F8-E16A-49134DFB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860FDE-4102-9391-A231-BD11FB2087D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AB3503D-4CB2-13D8-C068-DC95DE02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7701044-2C70-96CB-0622-1F4F4782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840941" y="4746812"/>
            <a:ext cx="2326341" cy="981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746812" y="4921624"/>
            <a:ext cx="244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err="1" smtClean="0"/>
              <a:t>Arduino</a:t>
            </a:r>
            <a:endParaRPr lang="en-US" sz="3200" dirty="0"/>
          </a:p>
        </p:txBody>
      </p:sp>
      <p:sp>
        <p:nvSpPr>
          <p:cNvPr id="9" name="Rounded Rectangle 8"/>
          <p:cNvSpPr/>
          <p:nvPr/>
        </p:nvSpPr>
        <p:spPr>
          <a:xfrm>
            <a:off x="2393576" y="5325038"/>
            <a:ext cx="1855694" cy="2958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Servo Motor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99446" y="4854388"/>
            <a:ext cx="1976718" cy="2823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Ultrasonic sensor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7930" y="4760259"/>
            <a:ext cx="1990164" cy="2958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LED &amp; Buzzer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7930" y="5338482"/>
            <a:ext cx="1855694" cy="3227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Power Supply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289612" y="4867835"/>
            <a:ext cx="551329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194176" y="4854387"/>
            <a:ext cx="443753" cy="24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Arrow 14"/>
          <p:cNvSpPr/>
          <p:nvPr/>
        </p:nvSpPr>
        <p:spPr>
          <a:xfrm>
            <a:off x="4262719" y="5392270"/>
            <a:ext cx="578222" cy="2151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/>
          <p:cNvSpPr/>
          <p:nvPr/>
        </p:nvSpPr>
        <p:spPr>
          <a:xfrm>
            <a:off x="7180730" y="5392271"/>
            <a:ext cx="470646" cy="2689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5957047" y="4020671"/>
            <a:ext cx="309282" cy="72614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136776" y="3482788"/>
            <a:ext cx="2191871" cy="510988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Monitor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179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9BD365-0AE5-4088-8258-77BBDEEF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DFA5F8-C0FA-4079-8707-03357BFC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dirty="0"/>
              <a:t>model and its </a:t>
            </a:r>
            <a:r>
              <a:rPr lang="en-US" dirty="0" smtClean="0"/>
              <a:t>explanation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EDDD46-605A-4382-98A7-41CEA72BB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CDA997-13C2-4B68-B396-A02EB639DB86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C30FC3F-58D5-4F5F-BAB3-2EAD02F9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10</a:t>
            </a:fld>
            <a:endParaRPr lang="en-IN"/>
          </a:p>
        </p:txBody>
      </p:sp>
      <p:pic>
        <p:nvPicPr>
          <p:cNvPr id="6" name="Picture 5" descr="Fantastic Kasi-G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1" y="2730137"/>
            <a:ext cx="10263051" cy="358375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7444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 power supply provides 5V to the circuit.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 ultrasonic sensor sends and receives ultrasonic waves.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 </a:t>
            </a:r>
            <a:r>
              <a:rPr lang="en-IN" dirty="0" err="1" smtClean="0"/>
              <a:t>A</a:t>
            </a:r>
            <a:r>
              <a:rPr lang="en-IN" dirty="0" err="1" smtClean="0"/>
              <a:t>rduino</a:t>
            </a:r>
            <a:r>
              <a:rPr lang="en-IN" dirty="0" smtClean="0"/>
              <a:t> </a:t>
            </a:r>
            <a:r>
              <a:rPr lang="en-IN" dirty="0" smtClean="0"/>
              <a:t>U</a:t>
            </a:r>
            <a:r>
              <a:rPr lang="en-IN" dirty="0" smtClean="0"/>
              <a:t>no processes the data from both sensors.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 LED indicator shows the direction of the object.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 buzzer alerts for object presence.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 servo motor controls the direction of ultrasonic sensor.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10:21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Hardware/Software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Hardware :                                                         Software:</a:t>
            </a:r>
          </a:p>
          <a:p>
            <a:r>
              <a:rPr lang="en-IN" dirty="0" smtClean="0"/>
              <a:t>Ultrasonic sensors                                           </a:t>
            </a:r>
            <a:r>
              <a:rPr lang="en-IN" dirty="0" err="1" smtClean="0"/>
              <a:t>Arduino</a:t>
            </a:r>
            <a:r>
              <a:rPr lang="en-IN" dirty="0" smtClean="0"/>
              <a:t> IDE</a:t>
            </a:r>
          </a:p>
          <a:p>
            <a:r>
              <a:rPr lang="en-IN" dirty="0" smtClean="0"/>
              <a:t>Servo Motor</a:t>
            </a:r>
          </a:p>
          <a:p>
            <a:r>
              <a:rPr lang="en-IN" dirty="0" smtClean="0"/>
              <a:t>Buzzer </a:t>
            </a:r>
          </a:p>
          <a:p>
            <a:r>
              <a:rPr lang="en-IN" dirty="0" smtClean="0"/>
              <a:t>LED’s</a:t>
            </a:r>
          </a:p>
          <a:p>
            <a:r>
              <a:rPr lang="en-IN" dirty="0" err="1" smtClean="0"/>
              <a:t>Arduino</a:t>
            </a:r>
            <a:r>
              <a:rPr lang="en-IN" dirty="0" smtClean="0"/>
              <a:t> UNO Board</a:t>
            </a:r>
          </a:p>
          <a:p>
            <a:r>
              <a:rPr lang="en-IN" dirty="0" smtClean="0"/>
              <a:t>220 ohms resistors</a:t>
            </a:r>
          </a:p>
          <a:p>
            <a:r>
              <a:rPr lang="en-IN" dirty="0" smtClean="0"/>
              <a:t>Connecting wires and jumpers</a:t>
            </a:r>
          </a:p>
          <a:p>
            <a:r>
              <a:rPr lang="en-IN" dirty="0" smtClean="0"/>
              <a:t>Bread board and </a:t>
            </a:r>
            <a:r>
              <a:rPr lang="en-IN" dirty="0" err="1" smtClean="0"/>
              <a:t>bluetooth</a:t>
            </a:r>
            <a:r>
              <a:rPr lang="en-IN" dirty="0" smtClean="0"/>
              <a:t> </a:t>
            </a:r>
            <a:r>
              <a:rPr lang="en-IN" dirty="0" err="1" smtClean="0"/>
              <a:t>cabel</a:t>
            </a:r>
            <a:endParaRPr lang="en-US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679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 smtClean="0">
                <a:solidFill>
                  <a:schemeClr val="tx1"/>
                </a:solidFill>
              </a:rPr>
              <a:t>Ultrasonic</a:t>
            </a:r>
            <a:r>
              <a:rPr lang="en-IN" sz="3200" b="0" u="sng" dirty="0" smtClean="0">
                <a:solidFill>
                  <a:schemeClr val="tx1"/>
                </a:solidFill>
              </a:rPr>
              <a:t> </a:t>
            </a:r>
            <a:r>
              <a:rPr lang="en-IN" sz="3200" u="sng" dirty="0" smtClean="0">
                <a:solidFill>
                  <a:schemeClr val="tx1"/>
                </a:solidFill>
              </a:rPr>
              <a:t>sensors</a:t>
            </a:r>
            <a:endParaRPr lang="en-US" sz="3200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985" y="1832766"/>
            <a:ext cx="10515600" cy="4129044"/>
          </a:xfrm>
        </p:spPr>
        <p:txBody>
          <a:bodyPr/>
          <a:lstStyle/>
          <a:p>
            <a:pPr>
              <a:buNone/>
            </a:pPr>
            <a:endParaRPr lang="en-IN" u="sng" dirty="0" smtClean="0"/>
          </a:p>
          <a:p>
            <a:r>
              <a:rPr lang="en-IN" b="1" dirty="0" smtClean="0"/>
              <a:t> </a:t>
            </a:r>
            <a:r>
              <a:rPr lang="en-IN" dirty="0" smtClean="0"/>
              <a:t>Ultrasonic sensor is used to measure the </a:t>
            </a:r>
          </a:p>
          <a:p>
            <a:pPr>
              <a:buNone/>
            </a:pPr>
            <a:r>
              <a:rPr lang="en-IN" b="1" dirty="0" smtClean="0"/>
              <a:t>    </a:t>
            </a:r>
            <a:r>
              <a:rPr lang="en-IN" dirty="0" smtClean="0"/>
              <a:t>distance of target or object</a:t>
            </a:r>
          </a:p>
          <a:p>
            <a:r>
              <a:rPr lang="en-IN" b="1" dirty="0" smtClean="0"/>
              <a:t> </a:t>
            </a:r>
            <a:r>
              <a:rPr lang="en-IN" dirty="0" smtClean="0"/>
              <a:t>It detects the objects by transmitting ultrasonic</a:t>
            </a:r>
          </a:p>
          <a:p>
            <a:pPr>
              <a:buNone/>
            </a:pPr>
            <a:r>
              <a:rPr lang="en-IN" b="1" dirty="0" smtClean="0"/>
              <a:t>   </a:t>
            </a:r>
            <a:r>
              <a:rPr lang="en-IN" dirty="0" smtClean="0"/>
              <a:t>waves and convert reflected wave into electric</a:t>
            </a:r>
          </a:p>
          <a:p>
            <a:pPr>
              <a:buNone/>
            </a:pPr>
            <a:r>
              <a:rPr lang="en-IN" dirty="0" smtClean="0"/>
              <a:t>   signal</a:t>
            </a:r>
          </a:p>
          <a:p>
            <a:r>
              <a:rPr lang="en-IN" dirty="0" smtClean="0"/>
              <a:t>Specifications:HC-SR04,2-50cm,5V DC,40Hz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7349" y="1672046"/>
            <a:ext cx="3631473" cy="354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 smtClean="0">
                <a:solidFill>
                  <a:schemeClr val="tx1"/>
                </a:solidFill>
              </a:rPr>
              <a:t>Servo Motor</a:t>
            </a:r>
            <a:endParaRPr lang="en-US" sz="3200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Servo motor is an electric device that used </a:t>
            </a:r>
          </a:p>
          <a:p>
            <a:pPr>
              <a:buNone/>
            </a:pPr>
            <a:r>
              <a:rPr lang="en-IN" dirty="0" smtClean="0"/>
              <a:t>   to control angular rotation</a:t>
            </a:r>
          </a:p>
          <a:p>
            <a:r>
              <a:rPr lang="en-IN" dirty="0" smtClean="0"/>
              <a:t>Servo motor have servomechanism. The servo</a:t>
            </a:r>
          </a:p>
          <a:p>
            <a:pPr>
              <a:buNone/>
            </a:pPr>
            <a:r>
              <a:rPr lang="en-IN" dirty="0" smtClean="0"/>
              <a:t>   mechanism helps the servo motor to control</a:t>
            </a:r>
          </a:p>
          <a:p>
            <a:pPr>
              <a:buNone/>
            </a:pPr>
            <a:r>
              <a:rPr lang="en-IN" dirty="0" smtClean="0"/>
              <a:t>   and monitor speed.</a:t>
            </a:r>
          </a:p>
          <a:p>
            <a:r>
              <a:rPr lang="en-IN" dirty="0" smtClean="0"/>
              <a:t>Specifications:SG90,5V DC,90-180 degree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94469" y="1737360"/>
            <a:ext cx="3984171" cy="3866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 smtClean="0">
                <a:solidFill>
                  <a:schemeClr val="tx1"/>
                </a:solidFill>
              </a:rPr>
              <a:t>Buzzer</a:t>
            </a:r>
            <a:endParaRPr lang="en-US" sz="3200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 Buzzer is an electronic sound-emitting device</a:t>
            </a:r>
          </a:p>
          <a:p>
            <a:pPr>
              <a:buNone/>
            </a:pPr>
            <a:r>
              <a:rPr lang="en-IN" dirty="0" smtClean="0"/>
              <a:t>     that operates on 5-volt power supply.</a:t>
            </a:r>
          </a:p>
          <a:p>
            <a:r>
              <a:rPr lang="en-IN" dirty="0" smtClean="0"/>
              <a:t>  It converts electrical energy into sound </a:t>
            </a:r>
          </a:p>
          <a:p>
            <a:pPr>
              <a:buNone/>
            </a:pPr>
            <a:r>
              <a:rPr lang="en-IN" dirty="0" smtClean="0"/>
              <a:t>    through mechanical vibration of </a:t>
            </a:r>
            <a:r>
              <a:rPr lang="en-IN" dirty="0" err="1" smtClean="0"/>
              <a:t>diaphram</a:t>
            </a:r>
            <a:r>
              <a:rPr lang="en-IN" dirty="0" smtClean="0"/>
              <a:t>.</a:t>
            </a:r>
          </a:p>
          <a:p>
            <a:r>
              <a:rPr lang="en-IN" dirty="0" smtClean="0"/>
              <a:t>  In this project buzzer sounds when an object </a:t>
            </a:r>
          </a:p>
          <a:p>
            <a:pPr>
              <a:buNone/>
            </a:pPr>
            <a:r>
              <a:rPr lang="en-IN" dirty="0" smtClean="0"/>
              <a:t>     is detected.</a:t>
            </a:r>
            <a:endParaRPr lang="en-US" dirty="0" smtClean="0"/>
          </a:p>
          <a:p>
            <a:pPr>
              <a:buNone/>
            </a:pPr>
            <a:r>
              <a:rPr lang="en-IN" dirty="0" smtClean="0"/>
              <a:t>                                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6904" y="1414463"/>
            <a:ext cx="4315096" cy="4027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 smtClean="0">
                <a:solidFill>
                  <a:schemeClr val="tx1"/>
                </a:solidFill>
              </a:rPr>
              <a:t>LED (Light Emitting Diode)</a:t>
            </a:r>
            <a:endParaRPr lang="en-US" sz="3200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LEDs are semiconductor devices that emit light when an </a:t>
            </a:r>
          </a:p>
          <a:p>
            <a:pPr>
              <a:buNone/>
            </a:pPr>
            <a:r>
              <a:rPr lang="en-IN" dirty="0" smtClean="0"/>
              <a:t>   an electric components is used.</a:t>
            </a:r>
          </a:p>
          <a:p>
            <a:r>
              <a:rPr lang="en-IN" dirty="0" smtClean="0"/>
              <a:t> They consists of chip of semiconducting material </a:t>
            </a:r>
          </a:p>
          <a:p>
            <a:pPr>
              <a:buNone/>
            </a:pPr>
            <a:r>
              <a:rPr lang="en-IN" dirty="0" smtClean="0"/>
              <a:t>    doped with impurities to create p-n junction.</a:t>
            </a:r>
          </a:p>
          <a:p>
            <a:r>
              <a:rPr lang="en-IN" dirty="0" smtClean="0"/>
              <a:t>Red LED blinks when object is </a:t>
            </a:r>
            <a:r>
              <a:rPr lang="en-IN" dirty="0" smtClean="0"/>
              <a:t>towards the system.</a:t>
            </a:r>
            <a:endParaRPr lang="en-IN" dirty="0" smtClean="0"/>
          </a:p>
          <a:p>
            <a:r>
              <a:rPr lang="en-IN" dirty="0" smtClean="0"/>
              <a:t>Green LED blinks </a:t>
            </a:r>
            <a:r>
              <a:rPr lang="en-IN" dirty="0" smtClean="0"/>
              <a:t>when object is away from the system.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16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39942" y="1031966"/>
            <a:ext cx="2865119" cy="4519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u="sng" dirty="0" err="1" smtClean="0">
                <a:solidFill>
                  <a:schemeClr val="tx1"/>
                </a:solidFill>
              </a:rPr>
              <a:t>Arduino</a:t>
            </a:r>
            <a:r>
              <a:rPr lang="en-IN" sz="3200" u="sng" dirty="0" smtClean="0">
                <a:solidFill>
                  <a:schemeClr val="tx1"/>
                </a:solidFill>
              </a:rPr>
              <a:t>  UNO Board</a:t>
            </a:r>
            <a:endParaRPr lang="en-US" sz="3200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7919"/>
            <a:ext cx="7770223" cy="4129044"/>
          </a:xfrm>
        </p:spPr>
        <p:txBody>
          <a:bodyPr/>
          <a:lstStyle/>
          <a:p>
            <a:r>
              <a:rPr lang="en-IN" dirty="0" smtClean="0"/>
              <a:t>The </a:t>
            </a:r>
            <a:r>
              <a:rPr lang="en-IN" dirty="0" err="1" smtClean="0"/>
              <a:t>Arduino</a:t>
            </a:r>
            <a:r>
              <a:rPr lang="en-IN" dirty="0" smtClean="0"/>
              <a:t> UNO receives input signals </a:t>
            </a:r>
          </a:p>
          <a:p>
            <a:pPr>
              <a:buNone/>
            </a:pPr>
            <a:r>
              <a:rPr lang="en-IN" dirty="0" smtClean="0"/>
              <a:t>  from sensors connected to digital and analogue</a:t>
            </a:r>
          </a:p>
          <a:p>
            <a:pPr>
              <a:buNone/>
            </a:pPr>
            <a:r>
              <a:rPr lang="en-IN" dirty="0" smtClean="0"/>
              <a:t>  pins.</a:t>
            </a:r>
          </a:p>
          <a:p>
            <a:r>
              <a:rPr lang="en-IN" dirty="0" smtClean="0"/>
              <a:t>The microcontroller processes these inputs and </a:t>
            </a:r>
          </a:p>
          <a:p>
            <a:pPr>
              <a:buNone/>
            </a:pPr>
            <a:r>
              <a:rPr lang="en-IN" dirty="0" smtClean="0"/>
              <a:t>executes instructions from uploaded program.</a:t>
            </a:r>
          </a:p>
          <a:p>
            <a:r>
              <a:rPr lang="en-IN" dirty="0" err="1" smtClean="0"/>
              <a:t>Arduino</a:t>
            </a:r>
            <a:r>
              <a:rPr lang="en-IN" dirty="0" smtClean="0"/>
              <a:t> sends the output signals to LEDs, actuators and motor and other devices.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17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95360" y="1502230"/>
            <a:ext cx="3304903" cy="354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S</a:t>
            </a:r>
            <a:r>
              <a:rPr lang="en-IN" sz="3200" dirty="0" smtClean="0">
                <a:solidFill>
                  <a:schemeClr val="tx1"/>
                </a:solidFill>
              </a:rPr>
              <a:t>oftware: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sz="2400" u="sng" dirty="0" err="1" smtClean="0"/>
              <a:t>Arduino</a:t>
            </a:r>
            <a:r>
              <a:rPr lang="en-IN" sz="2400" u="sng" dirty="0" smtClean="0"/>
              <a:t> IDE</a:t>
            </a:r>
          </a:p>
          <a:p>
            <a:pPr>
              <a:buNone/>
            </a:pPr>
            <a:r>
              <a:rPr lang="en-US" sz="2400" dirty="0" smtClean="0"/>
              <a:t>The </a:t>
            </a:r>
            <a:r>
              <a:rPr lang="en-US" sz="2400" dirty="0" err="1" smtClean="0"/>
              <a:t>Arduino</a:t>
            </a:r>
            <a:r>
              <a:rPr lang="en-US" sz="2400" dirty="0" smtClean="0"/>
              <a:t> Integrated Development Environment (IDE) is a free, open-source software that allows users to write, compile, and upload code to </a:t>
            </a:r>
            <a:r>
              <a:rPr lang="en-US" sz="2400" dirty="0" err="1" smtClean="0"/>
              <a:t>Arduino</a:t>
            </a:r>
            <a:r>
              <a:rPr lang="en-US" sz="2400" dirty="0" smtClean="0"/>
              <a:t> boards.</a:t>
            </a:r>
          </a:p>
          <a:p>
            <a:pPr>
              <a:buNone/>
            </a:pPr>
            <a:r>
              <a:rPr lang="en-US" sz="2400" dirty="0" smtClean="0"/>
              <a:t>1. Code Editor: Syntax highlighting, auto-completion, and code folding.</a:t>
            </a:r>
          </a:p>
          <a:p>
            <a:pPr>
              <a:buNone/>
            </a:pPr>
            <a:r>
              <a:rPr lang="en-US" sz="2400" dirty="0" smtClean="0"/>
              <a:t>2. Compiler: Compiles code into machine code for </a:t>
            </a:r>
            <a:r>
              <a:rPr lang="en-US" sz="2400" dirty="0" err="1" smtClean="0"/>
              <a:t>Arduino</a:t>
            </a:r>
            <a:r>
              <a:rPr lang="en-US" sz="2400" dirty="0" smtClean="0"/>
              <a:t> boards.</a:t>
            </a:r>
          </a:p>
          <a:p>
            <a:pPr>
              <a:buNone/>
            </a:pPr>
            <a:r>
              <a:rPr lang="en-US" sz="2400" dirty="0" smtClean="0"/>
              <a:t>3.Uploader: Uploads compiled code to </a:t>
            </a:r>
            <a:r>
              <a:rPr lang="en-US" sz="2400" dirty="0" err="1" smtClean="0"/>
              <a:t>Arduino</a:t>
            </a:r>
            <a:r>
              <a:rPr lang="en-US" sz="2400" dirty="0" smtClean="0"/>
              <a:t> boards.</a:t>
            </a:r>
          </a:p>
          <a:p>
            <a:pPr>
              <a:buNone/>
            </a:pPr>
            <a:r>
              <a:rPr lang="en-US" sz="2400" dirty="0" smtClean="0"/>
              <a:t>3. Serial Monitor: Displays serial data sent from </a:t>
            </a:r>
            <a:r>
              <a:rPr lang="en-US" sz="2400" dirty="0" err="1" smtClean="0"/>
              <a:t>Arduino</a:t>
            </a:r>
            <a:r>
              <a:rPr lang="en-US" sz="2400" dirty="0" smtClean="0"/>
              <a:t> boards.</a:t>
            </a:r>
          </a:p>
          <a:p>
            <a:pPr>
              <a:buNone/>
            </a:pPr>
            <a:r>
              <a:rPr lang="en-US" sz="2400" dirty="0" smtClean="0"/>
              <a:t>4. Library Manager: Manages libraries for various sensors, actuators, and modules.</a:t>
            </a:r>
          </a:p>
          <a:p>
            <a:pPr>
              <a:buNone/>
            </a:pPr>
            <a:r>
              <a:rPr lang="en-US" sz="2400" dirty="0" smtClean="0"/>
              <a:t>5. Board Manager: Supports multiple </a:t>
            </a:r>
            <a:r>
              <a:rPr lang="en-US" sz="2400" dirty="0" err="1" smtClean="0"/>
              <a:t>Arduino</a:t>
            </a:r>
            <a:r>
              <a:rPr lang="en-US" sz="2400" dirty="0" smtClean="0"/>
              <a:t> boards and configurations.</a:t>
            </a:r>
          </a:p>
          <a:p>
            <a:pPr>
              <a:buNone/>
            </a:pPr>
            <a:r>
              <a:rPr lang="en-US" sz="2400" dirty="0" smtClean="0"/>
              <a:t>6. Debugger: Basic debugging tools, including breakpoints and variable inspection.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Obtained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Experimental results shows that the system can </a:t>
            </a:r>
          </a:p>
          <a:p>
            <a:endParaRPr lang="en-IN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rgbClr val="0000CC"/>
                </a:solidFill>
              </a:rPr>
              <a:t>    “ Detect the object’s distance, angle</a:t>
            </a:r>
            <a:r>
              <a:rPr lang="en-IN" dirty="0" smtClean="0">
                <a:solidFill>
                  <a:srgbClr val="0000CC"/>
                </a:solidFill>
              </a:rPr>
              <a:t>, speed and direction within the </a:t>
            </a:r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rgbClr val="0000CC"/>
                </a:solidFill>
              </a:rPr>
              <a:t>         </a:t>
            </a:r>
            <a:r>
              <a:rPr lang="en-IN" dirty="0" smtClean="0">
                <a:solidFill>
                  <a:srgbClr val="0000CC"/>
                </a:solidFill>
              </a:rPr>
              <a:t>range </a:t>
            </a:r>
            <a:r>
              <a:rPr lang="en-IN" dirty="0" smtClean="0">
                <a:solidFill>
                  <a:srgbClr val="0000CC"/>
                </a:solidFill>
              </a:rPr>
              <a:t>successfully”.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10:34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19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2575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41CF5C-1E4D-4543-B0DE-83FB0057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4E6AE4-CFD7-419C-BE98-ECE5DAB7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B17405-5D89-4773-B7D3-448447BF463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A915130-5239-4D55-85B7-70A277ED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20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16740519-2519-433F-8FF5-B83914A6A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466" y="166195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4606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60625" algn="l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FCE31CDA-CEFB-4302-92B6-BCF0D0D7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49762422"/>
              </p:ext>
            </p:extLst>
          </p:nvPr>
        </p:nvGraphicFramePr>
        <p:xfrm>
          <a:off x="2419952" y="1846620"/>
          <a:ext cx="8770561" cy="45097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84784">
                  <a:extLst>
                    <a:ext uri="{9D8B030D-6E8A-4147-A177-3AD203B41FA5}">
                      <a16:colId xmlns="" xmlns:a16="http://schemas.microsoft.com/office/drawing/2014/main" val="3686537579"/>
                    </a:ext>
                  </a:extLst>
                </a:gridCol>
                <a:gridCol w="3682270">
                  <a:extLst>
                    <a:ext uri="{9D8B030D-6E8A-4147-A177-3AD203B41FA5}">
                      <a16:colId xmlns="" xmlns:a16="http://schemas.microsoft.com/office/drawing/2014/main" val="1562379206"/>
                    </a:ext>
                  </a:extLst>
                </a:gridCol>
                <a:gridCol w="4303507">
                  <a:extLst>
                    <a:ext uri="{9D8B030D-6E8A-4147-A177-3AD203B41FA5}">
                      <a16:colId xmlns="" xmlns:a16="http://schemas.microsoft.com/office/drawing/2014/main" val="4093115798"/>
                    </a:ext>
                  </a:extLst>
                </a:gridCol>
              </a:tblGrid>
              <a:tr h="4509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Sl. No.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Tasks to be performed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Deadline ( Expected date/week of completion)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343757730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Literature Survey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20/09/2024 – 24/09/2024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455475014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Synopsis Submission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1/10/2024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880102196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Submission of First Phase Report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11/11/2024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652692406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Objective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5/11/2024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164446734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Objective 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7/11/2024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845284442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6.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Objective 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8/11/2024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827403191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7.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Objective 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8/11/2024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115681992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Testing &amp; Result Analysis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55140914"/>
                  </a:ext>
                </a:extLst>
              </a:tr>
              <a:tr h="450973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9.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Documentation of Mini Project Report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297123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41150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47445B-AF1A-4AF6-9150-A6B02609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0B6A5B0-119F-4C78-BC50-5B136C1B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</a:rPr>
              <a:t>[1].</a:t>
            </a:r>
            <a:r>
              <a:rPr lang="en-US" dirty="0" err="1" smtClean="0">
                <a:latin typeface="Times New Roman" panose="02020603050405020304" pitchFamily="18" charset="0"/>
              </a:rPr>
              <a:t>Arun</a:t>
            </a:r>
            <a:r>
              <a:rPr lang="en-US" dirty="0" smtClean="0">
                <a:latin typeface="Times New Roman" panose="02020603050405020304" pitchFamily="18" charset="0"/>
              </a:rPr>
              <a:t> Francis, </a:t>
            </a:r>
            <a:r>
              <a:rPr lang="en-US" dirty="0" err="1" smtClean="0">
                <a:latin typeface="Times New Roman" panose="02020603050405020304" pitchFamily="18" charset="0"/>
              </a:rPr>
              <a:t>G,Arulselvan</a:t>
            </a:r>
            <a:r>
              <a:rPr lang="en-US" dirty="0" smtClean="0">
                <a:latin typeface="Times New Roman" panose="02020603050405020304" pitchFamily="18" charset="0"/>
              </a:rPr>
              <a:t> ,</a:t>
            </a:r>
            <a:r>
              <a:rPr lang="en-US" dirty="0" err="1" smtClean="0">
                <a:latin typeface="Times New Roman" panose="02020603050405020304" pitchFamily="18" charset="0"/>
              </a:rPr>
              <a:t>Elangkumaran,P</a:t>
            </a:r>
            <a:r>
              <a:rPr lang="en-US" dirty="0" smtClean="0"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</a:rPr>
              <a:t>keerthivarman</a:t>
            </a:r>
            <a:r>
              <a:rPr lang="en-US" dirty="0" smtClean="0">
                <a:latin typeface="Times New Roman" panose="02020603050405020304" pitchFamily="18" charset="0"/>
              </a:rPr>
              <a:t> S,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</a:rPr>
              <a:t>      </a:t>
            </a:r>
            <a:r>
              <a:rPr lang="en-IN" dirty="0" err="1" smtClean="0">
                <a:latin typeface="Times New Roman" panose="02020603050405020304" pitchFamily="18" charset="0"/>
              </a:rPr>
              <a:t>vijaya</a:t>
            </a:r>
            <a:r>
              <a:rPr lang="en-IN" dirty="0" smtClean="0">
                <a:latin typeface="Times New Roman" panose="02020603050405020304" pitchFamily="18" charset="0"/>
              </a:rPr>
              <a:t> Kumar J, “Object detection using Ultrasonic </a:t>
            </a:r>
            <a:r>
              <a:rPr lang="en-IN" dirty="0" err="1" smtClean="0">
                <a:latin typeface="Times New Roman" panose="02020603050405020304" pitchFamily="18" charset="0"/>
              </a:rPr>
              <a:t>sensor”April</a:t>
            </a:r>
            <a:endParaRPr lang="en-IN" dirty="0" smtClean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</a:rPr>
              <a:t>      </a:t>
            </a:r>
            <a:r>
              <a:rPr lang="en-IN" dirty="0" smtClean="0">
                <a:latin typeface="Times New Roman" panose="02020603050405020304" pitchFamily="18" charset="0"/>
              </a:rPr>
              <a:t>(2019) International Journal innovative Technology and Exploring                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</a:rPr>
              <a:t>      Engineering |IJITEE  2019|</a:t>
            </a:r>
          </a:p>
          <a:p>
            <a:pPr>
              <a:buNone/>
            </a:pPr>
            <a:r>
              <a:rPr lang="en-IN" dirty="0" smtClean="0"/>
              <a:t>[2].Mohammed </a:t>
            </a:r>
            <a:r>
              <a:rPr lang="en-IN" dirty="0" err="1" smtClean="0"/>
              <a:t>Faisal,Ganta</a:t>
            </a:r>
            <a:r>
              <a:rPr lang="en-IN" dirty="0" smtClean="0"/>
              <a:t> </a:t>
            </a:r>
            <a:r>
              <a:rPr lang="en-IN" dirty="0" err="1" smtClean="0"/>
              <a:t>Anurag</a:t>
            </a:r>
            <a:r>
              <a:rPr lang="en-IN" dirty="0" smtClean="0"/>
              <a:t> </a:t>
            </a:r>
            <a:r>
              <a:rPr lang="en-IN" dirty="0" err="1" smtClean="0"/>
              <a:t>reddy,Baluspati</a:t>
            </a:r>
            <a:r>
              <a:rPr lang="en-IN" dirty="0" smtClean="0"/>
              <a:t> Anil Kumar and</a:t>
            </a:r>
          </a:p>
          <a:p>
            <a:pPr>
              <a:buNone/>
            </a:pPr>
            <a:r>
              <a:rPr lang="en-IN" dirty="0" smtClean="0"/>
              <a:t>      </a:t>
            </a:r>
            <a:r>
              <a:rPr lang="en-IN" dirty="0" err="1" smtClean="0"/>
              <a:t>Dr.Ajitha</a:t>
            </a:r>
            <a:r>
              <a:rPr lang="en-IN" dirty="0" smtClean="0"/>
              <a:t>, “Distance </a:t>
            </a:r>
            <a:r>
              <a:rPr lang="en-IN" dirty="0" err="1" smtClean="0"/>
              <a:t>measurment</a:t>
            </a:r>
            <a:r>
              <a:rPr lang="en-IN" dirty="0" smtClean="0"/>
              <a:t> and object detection using</a:t>
            </a:r>
          </a:p>
          <a:p>
            <a:pPr>
              <a:buNone/>
            </a:pPr>
            <a:r>
              <a:rPr lang="en-IN" dirty="0" smtClean="0"/>
              <a:t>      Ultrasonic </a:t>
            </a:r>
            <a:r>
              <a:rPr lang="en-IN" dirty="0" err="1" smtClean="0"/>
              <a:t>sensors”,June</a:t>
            </a:r>
            <a:r>
              <a:rPr lang="en-IN" dirty="0" smtClean="0"/>
              <a:t> 2021 International Journal of modern </a:t>
            </a:r>
          </a:p>
          <a:p>
            <a:pPr>
              <a:buNone/>
            </a:pPr>
            <a:r>
              <a:rPr lang="en-IN" dirty="0" smtClean="0"/>
              <a:t>       trends  in science and </a:t>
            </a:r>
            <a:r>
              <a:rPr lang="en-IN" dirty="0" err="1" smtClean="0"/>
              <a:t>technology|IJMST</a:t>
            </a:r>
            <a:r>
              <a:rPr lang="en-IN" dirty="0" smtClean="0"/>
              <a:t>|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</a:endParaRP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22904DB-4BF5-44F1-BE54-74D3DF08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92AC0D-D325-406D-B4B7-244CEA7E62B6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BE980B-7F21-4350-A8F0-842DA729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21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2718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References(</a:t>
            </a:r>
            <a:r>
              <a:rPr lang="en-US" dirty="0" err="1" smtClean="0"/>
              <a:t>contd</a:t>
            </a:r>
            <a:r>
              <a:rPr lang="en-US" dirty="0" smtClean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[3].</a:t>
            </a:r>
            <a:r>
              <a:rPr lang="en-IN" dirty="0" err="1" smtClean="0"/>
              <a:t>Neetu</a:t>
            </a:r>
            <a:r>
              <a:rPr lang="en-IN" dirty="0" smtClean="0"/>
              <a:t> </a:t>
            </a:r>
            <a:r>
              <a:rPr lang="en-IN" dirty="0" err="1" smtClean="0"/>
              <a:t>Settia,Krishan</a:t>
            </a:r>
            <a:r>
              <a:rPr lang="en-IN" dirty="0" smtClean="0"/>
              <a:t> Mohan </a:t>
            </a:r>
            <a:r>
              <a:rPr lang="en-IN" dirty="0" err="1" smtClean="0"/>
              <a:t>Mandal</a:t>
            </a:r>
            <a:r>
              <a:rPr lang="en-IN" dirty="0" smtClean="0"/>
              <a:t>, “Exploring the potential of </a:t>
            </a:r>
            <a:r>
              <a:rPr lang="en-IN" dirty="0" err="1" smtClean="0"/>
              <a:t>arduino</a:t>
            </a:r>
            <a:r>
              <a:rPr lang="en-IN" dirty="0" smtClean="0"/>
              <a:t> and ultrasonic Sensor Integration in Radar </a:t>
            </a:r>
            <a:r>
              <a:rPr lang="en-IN" dirty="0" err="1" smtClean="0"/>
              <a:t>system”,International</a:t>
            </a:r>
            <a:r>
              <a:rPr lang="en-IN" dirty="0" smtClean="0"/>
              <a:t> Research Journal on Advanced Engineering</a:t>
            </a:r>
          </a:p>
          <a:p>
            <a:pPr>
              <a:buNone/>
            </a:pPr>
            <a:r>
              <a:rPr lang="en-IN" dirty="0" smtClean="0"/>
              <a:t>   May (2024)|IRJAEH|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CC6B52-9971-410F-B970-172C9ABC021C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AA2ACA-5B51-4951-8289-F3903812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171"/>
            <a:ext cx="10515600" cy="2424035"/>
          </a:xfrm>
        </p:spPr>
        <p:txBody>
          <a:bodyPr/>
          <a:lstStyle/>
          <a:p>
            <a:pPr algn="ctr"/>
            <a:r>
              <a:rPr lang="en-IN" sz="13800" dirty="0" smtClean="0">
                <a:solidFill>
                  <a:srgbClr val="0000CC"/>
                </a:solidFill>
              </a:rPr>
              <a:t>THANK YOU</a:t>
            </a:r>
            <a:endParaRPr lang="en-US" sz="13800" dirty="0">
              <a:solidFill>
                <a:srgbClr val="0000CC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9A239F2-F3E5-4E65-95E3-89E812DE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DB0205-DC07-43ED-81D1-74C563CE7FD5}" type="datetime8">
              <a:rPr lang="en-IN" smtClean="0"/>
              <a:pPr>
                <a:defRPr/>
              </a:pPr>
              <a:t>10-11-2024 10:18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EF8FAEF-3ACD-47F7-A262-E4561F06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C9A1D-E715-4FF0-BABF-4724B2795EE9}" type="slidenum">
              <a:rPr lang="en-IN" smtClean="0"/>
              <a:pPr>
                <a:defRPr/>
              </a:pPr>
              <a:t>23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3667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10041</TotalTime>
  <Words>1275</Words>
  <Application>Microsoft Office PowerPoint</Application>
  <PresentationFormat>Custom</PresentationFormat>
  <Paragraphs>248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Visvesvaraya Technological University Belagavi</vt:lpstr>
      <vt:lpstr>Presentation Flow</vt:lpstr>
      <vt:lpstr>Introduction</vt:lpstr>
      <vt:lpstr>Literature Survey</vt:lpstr>
      <vt:lpstr>Literature Survey (Contd…)</vt:lpstr>
      <vt:lpstr>Literature Survey (Contd…)</vt:lpstr>
      <vt:lpstr>Aim of the Project </vt:lpstr>
      <vt:lpstr>Objectives &amp; Methodology</vt:lpstr>
      <vt:lpstr>Block diagram of the project</vt:lpstr>
      <vt:lpstr>Implementation Details</vt:lpstr>
      <vt:lpstr>Explanation</vt:lpstr>
      <vt:lpstr>Hardware/Software Requirements</vt:lpstr>
      <vt:lpstr>Ultrasonic sensors</vt:lpstr>
      <vt:lpstr>Servo Motor</vt:lpstr>
      <vt:lpstr>Buzzer</vt:lpstr>
      <vt:lpstr>LED (Light Emitting Diode)</vt:lpstr>
      <vt:lpstr>Arduino  UNO Board</vt:lpstr>
      <vt:lpstr>Software:</vt:lpstr>
      <vt:lpstr>Results Obtained</vt:lpstr>
      <vt:lpstr>Action Plan:</vt:lpstr>
      <vt:lpstr>References</vt:lpstr>
      <vt:lpstr>References(contd…)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HRM</dc:creator>
  <cp:lastModifiedBy>Windows User</cp:lastModifiedBy>
  <cp:revision>1823</cp:revision>
  <dcterms:created xsi:type="dcterms:W3CDTF">2016-07-21T09:12:51Z</dcterms:created>
  <dcterms:modified xsi:type="dcterms:W3CDTF">2024-11-10T05:06:42Z</dcterms:modified>
</cp:coreProperties>
</file>